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c76035f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c76035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c7603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c7603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c76035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6c76035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c76035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6c76035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c76035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c76035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6c76035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6c76035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c76035f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6c76035f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c76035f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6c76035f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c76035f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c76035f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c76035f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6c76035f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c76035f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6c76035f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c76035f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6c76035f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c76035f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6c76035f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0018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Name:S.Praveen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Reg no:192524239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SIMATS Engineering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Btech-AI&amp;DS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Course Name:Artificial Intelligence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Course Code:CSA1714</a:t>
            </a:r>
            <a:endParaRPr sz="3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/>
              <a:t>1. Scenario – AI Auction-Bidding Game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i. Explain how the Minimax algorithm models this problem.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Minimax is suitable because the auction-bidding game involves </a:t>
            </a:r>
            <a:r>
              <a:rPr b="1" lang="en" sz="1100"/>
              <a:t>two competing agents</a:t>
            </a:r>
            <a:r>
              <a:rPr lang="en" sz="1100"/>
              <a:t>: our AI bidder and an adversarial automated bidder.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The </a:t>
            </a:r>
            <a:r>
              <a:rPr b="1" lang="en" sz="1100"/>
              <a:t>AI agent</a:t>
            </a:r>
            <a:r>
              <a:rPr lang="en" sz="1100"/>
              <a:t> is the MAX player and tries to maximize its final profit or utility.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The </a:t>
            </a:r>
            <a:r>
              <a:rPr b="1" lang="en" sz="1100"/>
              <a:t>opponent</a:t>
            </a:r>
            <a:r>
              <a:rPr lang="en" sz="1100"/>
              <a:t> is the MIN player and tries to reduce the AI's benefit.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Each node in the game tree represents a possible </a:t>
            </a:r>
            <a:r>
              <a:rPr b="1" lang="en" sz="1100"/>
              <a:t>market state and bidding decision</a:t>
            </a:r>
            <a:r>
              <a:rPr lang="en" sz="1100"/>
              <a:t>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Each edge represents a possible bid made by one of the players.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The terminal nodes represent the final outcome of the auction.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A utility/evaluation value is assigned to each terminal or cutoff state.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Minimax selects the bid that provides the </a:t>
            </a:r>
            <a:r>
              <a:rPr b="1" lang="en" sz="1100"/>
              <a:t>best guaranteed outcome</a:t>
            </a:r>
            <a:r>
              <a:rPr lang="en" sz="1100"/>
              <a:t>, assuming the opponent always makes the best possible counter-move.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For example: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AI Bid → Opponent Bid → AI Bid → Opponent Bid → Final Result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 algorithm examines possible sequences and chooses the move with the highest minimum expected payoff.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ii. Analyze the computational challenges of large game/decision trees.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Large game trees create serious computational problems because the number of possible bid sequences increases rapidly.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If: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b</a:t>
            </a:r>
            <a:r>
              <a:rPr lang="en" sz="1100"/>
              <a:t> = number of possible bids at each step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d</a:t>
            </a:r>
            <a:r>
              <a:rPr lang="en" sz="1100"/>
              <a:t> = depth of the decision tree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then standard Minimax has approximately: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Time complexity = O(bᵈ)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and requires approximately: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Space complexity = O(bd)</a:t>
            </a:r>
            <a:r>
              <a:rPr lang="en" sz="1100"/>
              <a:t> with depth-first implementation.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Major challenges include: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Huge branching factor:</a:t>
            </a:r>
            <a:r>
              <a:rPr lang="en" sz="1100"/>
              <a:t> Many possible bids can be made at every round.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Large depth:</a:t>
            </a:r>
            <a:r>
              <a:rPr lang="en" sz="1100"/>
              <a:t> Multiple auction rounds create long sequences of decisions.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Strict time limits:</a:t>
            </a:r>
            <a:r>
              <a:rPr lang="en" sz="1100"/>
              <a:t> The AI may not have enough time to examine the entire tree.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Changing market conditions:</a:t>
            </a:r>
            <a:r>
              <a:rPr lang="en" sz="1100"/>
              <a:t> The value of items and opponent behavior can change during the game.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Adversarial behavior:</a:t>
            </a:r>
            <a:r>
              <a:rPr lang="en" sz="1100"/>
              <a:t> Opponents deliberately make decisions that reduce the AI's profit.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Complex state representation:</a:t>
            </a:r>
            <a:r>
              <a:rPr lang="en" sz="1100"/>
              <a:t> Each state may contain budgets, item values, previous bids, remaining rounds, and opponent information.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Therefore, searching the complete tree is usually impractical.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iii. Explain how Alpha-Beta pruning improves efficiency with detailed reasoning.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Alpha-Beta pruning</a:t>
            </a:r>
            <a:r>
              <a:rPr lang="en" sz="1100"/>
              <a:t> improves Minimax by eliminating branches that cannot affect the final decision.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It maintains two values: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Alpha (α):</a:t>
            </a:r>
            <a:r>
              <a:rPr lang="en" sz="1100"/>
              <a:t> Best value that MAX can guarantee so far.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Beta (β):</a:t>
            </a:r>
            <a:r>
              <a:rPr lang="en" sz="1100"/>
              <a:t> Best value that MIN can guarantee so far.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Whenever: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α ≥ β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 remaining branches under that node do not need to be explored.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Example: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Suppose MAX is comparing two possible bids.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For the first bid, Minimax discovers a value of </a:t>
            </a:r>
            <a:r>
              <a:rPr b="1" lang="en" sz="1100"/>
              <a:t>50</a:t>
            </a:r>
            <a:r>
              <a:rPr lang="en" sz="1100"/>
              <a:t>, so: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α = 50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When examining another branch, MIN finds an option giving a value of </a:t>
            </a:r>
            <a:r>
              <a:rPr b="1" lang="en" sz="1100"/>
              <a:t>40</a:t>
            </a:r>
            <a:r>
              <a:rPr lang="en" sz="1100"/>
              <a:t>. Since MIN will choose 40 rather than anything greater, MAX already knows this branch cannot beat the previously obtained value of 50.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Therefore, the remaining unexplored branches can be </a:t>
            </a:r>
            <a:r>
              <a:rPr b="1" lang="en" sz="1100"/>
              <a:t>pruned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Alpha-Beta pruning: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Produces the </a:t>
            </a:r>
            <a:r>
              <a:rPr b="1" lang="en" sz="1100"/>
              <a:t>same result as Minimax</a:t>
            </a:r>
            <a:r>
              <a:rPr lang="en" sz="1100"/>
              <a:t>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Reduces the number of nodes evaluated.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Allows the AI to search </a:t>
            </a:r>
            <a:r>
              <a:rPr b="1" lang="en" sz="1100"/>
              <a:t>deeper within the same time limit</a:t>
            </a:r>
            <a:r>
              <a:rPr lang="en" sz="1100"/>
              <a:t>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Works particularly well when good moves are examined first.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 worst-case complexity remains </a:t>
            </a:r>
            <a:r>
              <a:rPr b="1" lang="en" sz="1100"/>
              <a:t>O(bᵈ)</a:t>
            </a:r>
            <a:r>
              <a:rPr lang="en" sz="1100"/>
              <a:t>, but with excellent move ordering, it can approach: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O(bᵈ/²)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Thus, Alpha-Beta pruning is highly useful for real-time bidding decisions.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iv. Design an evaluation function and justify the factors considered.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An evaluation function estimates how good the current auction state is when the complete game tree cannot be searched.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 possible evaluation function is: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Evaluation = 40(P) + 25(V) + 15(B) + 10(I) + 10(O)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v. Recommend a strategy for balancing optimality and real-time performance.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 suitable strategy is </a:t>
            </a:r>
            <a:r>
              <a:rPr b="1" lang="en" sz="1100"/>
              <a:t>Depth-Limited Minimax with Alpha-Beta pruning and iterative deepening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AI can work as follows: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Start searching at a small depth.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Apply Alpha-Beta pruning to eliminate unnecessary branches.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Gradually increase the search depth.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Stop when the time limit is nearly reached.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Return the best decision found at the deepest completed search.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Use a heuristic evaluation function for unexplored states.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Use move ordering to examine promising bids first.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provides a good balance between </a:t>
            </a:r>
            <a:r>
              <a:rPr b="1" lang="en" sz="1100"/>
              <a:t>optimal decision-making and fast response time</a:t>
            </a:r>
            <a:r>
              <a:rPr lang="en" sz="1100"/>
              <a:t>. In a real-time auction, producing a strong decision within the deadline is more important than finding a theoretically perfect decision too late.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189"/>
              <a:t>2. Scenario – Autonomous Underwater Vehicle (AUV)</a:t>
            </a:r>
            <a:endParaRPr b="1" sz="2189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89"/>
              <a:t>i. Explain how Greedy Best-First Search would behave and discuss its strengths and weaknesses under uncertainty.</a:t>
            </a:r>
            <a:endParaRPr b="1" sz="11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9"/>
              <a:t>Greedy Best-First Search selects the node with the smallest heuristic value:</a:t>
            </a:r>
            <a:endParaRPr sz="9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89"/>
              <a:t>f(n) = h(n)</a:t>
            </a:r>
            <a:endParaRPr b="1" sz="9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9"/>
              <a:t>Here, </a:t>
            </a:r>
            <a:r>
              <a:rPr b="1" lang="en" sz="989"/>
              <a:t>h(n)</a:t>
            </a:r>
            <a:r>
              <a:rPr lang="en" sz="989"/>
              <a:t> can represent the estimated straight-line distance from the AUV's current location to the last known survivor location.</a:t>
            </a:r>
            <a:endParaRPr sz="989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078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ii. Explain how A* would handle the same situation, including how it balances cost and heuristic.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A* combines the actual cost of reaching a location with the estimated remaining cost.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Its evaluation function is: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f(n) = g(n) + h(n)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Where: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g(n)</a:t>
            </a:r>
            <a:r>
              <a:rPr lang="en" sz="1100"/>
              <a:t> = actual cost from the starting position to node n.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h(n)</a:t>
            </a:r>
            <a:r>
              <a:rPr lang="en" sz="1100"/>
              <a:t> = estimated cost from node n to the survivor.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f(n)</a:t>
            </a:r>
            <a:r>
              <a:rPr lang="en" sz="1100"/>
              <a:t> = estimated total cost of the complete route.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For the AUV: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g(n)</a:t>
            </a:r>
            <a:r>
              <a:rPr lang="en" sz="1100"/>
              <a:t> can include: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Distance travelled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Energy consumption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Current strength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Depth-related travel cost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Risk from debris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Navigation difficulty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iii. Analyze the impact of heuristic accuracy on both algorithms.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 heuristic has a major effect on both algorithms.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Greedy Best-First Search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Greedy search depends heavily on </a:t>
            </a:r>
            <a:r>
              <a:rPr b="1" lang="en" sz="1100"/>
              <a:t>h(n)</a:t>
            </a:r>
            <a:r>
              <a:rPr lang="en" sz="1100"/>
              <a:t> because: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f(n) = h(n)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If the heuristic is accurate, Greedy Search can quickly move toward the survivor.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If the heuristic is inaccurate because of debris, currents, or incorrect survivor location, it may choose a poor route.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A*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A* uses: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f(n) = g(n) + h(n)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Therefore, it is less dependent on the heuristic than Greedy Search because it also considers the actual cost already incurred.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Good heuristic:</a:t>
            </a:r>
            <a:r>
              <a:rPr lang="en" sz="1100"/>
              <a:t> Faster and more focused search.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Poor heuristic:</a:t>
            </a:r>
            <a:r>
              <a:rPr lang="en" sz="1100"/>
              <a:t> More nodes may be explored.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100"/>
              <a:t>Admissible heuristic:</a:t>
            </a:r>
            <a:r>
              <a:rPr lang="en" sz="1100"/>
              <a:t> A* can guarantee an optimal solution under appropriate conditions.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iv. Discuss how dynamic changes affect search performance.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 underwater environment changes continuously.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Examples include: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Moving debris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Changing water currents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Reduced visibility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Newly detected obstacles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Changes in energy consumption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Changing survivor location estimates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These changes can make previously calculated routes invalid.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As a result: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Previously evaluated paths may become unsafe.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The cost </a:t>
            </a:r>
            <a:r>
              <a:rPr b="1" lang="en" sz="1100"/>
              <a:t>g(n)</a:t>
            </a:r>
            <a:r>
              <a:rPr lang="en" sz="1100"/>
              <a:t> of a route may change.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Heuristic estimates may become outdated.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The search may need to be restarted or updated.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More computational resources may be required.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Frequent environmental changes can reduce the effectiveness of static search algorithms.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 practical AUV should therefore use </a:t>
            </a:r>
            <a:r>
              <a:rPr b="1" lang="en" sz="1100"/>
              <a:t>real-time sensor updates and repeated/replanning search</a:t>
            </a:r>
            <a:r>
              <a:rPr lang="en" sz="1100"/>
              <a:t> rather than relying on one fixed route.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v. Recommend the most suitable algorithm and justify your decision.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A*</a:t>
            </a:r>
            <a:r>
              <a:rPr lang="en" sz="1100"/>
              <a:t> is the most suitable basic algorithm for this scenario.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Reasons: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It considers both </a:t>
            </a:r>
            <a:r>
              <a:rPr b="1" lang="en" sz="1100"/>
              <a:t>actual travel cost and estimated remaining distance</a:t>
            </a:r>
            <a:r>
              <a:rPr lang="en" sz="1100"/>
              <a:t>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It can incorporate energy, current strength, depth, and risk into the path cost.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It generally provides better routes than Greedy Best-First Search.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With a suitable heuristic, it can provide optimal or near-optimal routes.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100"/>
              <a:t>It can be combined with frequent replanning when sonar information changes.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However, because this is a </a:t>
            </a:r>
            <a:r>
              <a:rPr b="1" lang="en" sz="1100"/>
              <a:t>dynamic and safety-critical environment</a:t>
            </a:r>
            <a:r>
              <a:rPr lang="en" sz="1100"/>
              <a:t>, the AUV should use an </a:t>
            </a:r>
            <a:r>
              <a:rPr b="1" lang="en" sz="1100"/>
              <a:t>adaptive/replanning version of A</a:t>
            </a:r>
            <a:r>
              <a:rPr lang="en" sz="1100"/>
              <a:t>* with updated sensor information.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Thus, A* provides a better balance of </a:t>
            </a:r>
            <a:r>
              <a:rPr b="1" lang="en" sz="1100"/>
              <a:t>speed, optimality, cost, and safety</a:t>
            </a:r>
            <a:r>
              <a:rPr lang="en" sz="1100"/>
              <a:t> than Greedy Best-First Search.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3. Scenario – Cloud Computing Workload Optimization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/>
              <a:t>Formulate this as an optimization problem and explain why traditional search is inefficient.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 problem can be formulated as a </a:t>
            </a:r>
            <a:r>
              <a:rPr b="1" lang="en" sz="1100"/>
              <a:t>large-scale optimization problem</a:t>
            </a:r>
            <a:r>
              <a:rPr lang="en" sz="1100"/>
              <a:t> where the AI must determine how workloads should be distributed among thousands of servers.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i. Explain how Hill Climbing would work and identify its limitations.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Hill Climbing is a </a:t>
            </a:r>
            <a:r>
              <a:rPr b="1" lang="en" sz="1100"/>
              <a:t>local search algorithm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It starts with an initial workload distribution and repeatedly makes a small change that improves the objective function.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For example: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Initial allocation → Move workload → Evaluate → Keep improvement → Repeat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Suppose moving a workload from Server A to Server B reduces energy consumption. Hill Climbing accepts the change and continues searching from the new configuration.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Limitations</a:t>
            </a:r>
            <a:endParaRPr b="1" sz="13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It only examines nearby solutions.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It may stop at a </a:t>
            </a:r>
            <a:r>
              <a:rPr b="1" lang="en" sz="1100"/>
              <a:t>local optimum</a:t>
            </a:r>
            <a:r>
              <a:rPr lang="en" sz="1100"/>
              <a:t>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It may struggle with very large search spaces.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It does not naturally explore significantly different solutions.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Dynamic workload patterns can cause the algorithm to repeatedly change solutions.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It may not find the global optimum.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Therefore, Hill Climbing is simple and fast but may produce a suboptimal workload distribution.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/>
              <a:t>ii. Discuss local maxima, plateaus, and ridges with real-world interpretation.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1. Local Maximum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 local maximum is a solution that is better than all nearby solutions but is not the best solution overall.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Real-world example:</a:t>
            </a:r>
            <a:br>
              <a:rPr b="1" lang="en" sz="1100"/>
            </a:br>
            <a:r>
              <a:rPr lang="en" sz="1100"/>
              <a:t> The cloud system finds a workload distribution that reduces energy consumption compared with nearby configurations, but a completely different distribution could reduce energy consumption even further.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Hill Climbing may stop at the first solution.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2. Plateau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 plateau occurs when many neighboring solutions have approximately the same evaluation value.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Real-world example:</a:t>
            </a:r>
            <a:br>
              <a:rPr b="1" lang="en" sz="1100"/>
            </a:br>
            <a:r>
              <a:rPr lang="en" sz="1100"/>
              <a:t> Moving workloads between several similar servers may produce almost identical energy and latency values.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 algorithm cannot determine which direction provides meaningful improvement and may stop or move randomly.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3. Ridge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 ridge is a narrow region where improvement requires a sequence of coordinated changes rather than a single simple move.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/>
              <a:t>iii. Explain how Simulated Annealing or Genetic Algorithms can overcome these limitations.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Simulated Annealing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Simulated Annealing improves upon Hill Climbing by sometimes accepting a </a:t>
            </a:r>
            <a:r>
              <a:rPr b="1" lang="en" sz="1100"/>
              <a:t>worse solution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 probability of accepting a worse solution is related to temperature: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P = e^(-ΔE/T)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At high temperature, the algorithm can accept more worse solutions and escape local maxima.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As the temperature decreases, it becomes more selective and eventually behaves more like Hill Climbing.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Therefore, it can: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Escape local optima.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Explore more of the search space.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Handle plateaus and ridges.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Find better workload configurations.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Genetic Algorithm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 Genetic Algorithm maintains a </a:t>
            </a:r>
            <a:r>
              <a:rPr b="1" lang="en" sz="1100"/>
              <a:t>population of possible workload distributions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77144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/>
              <a:t>iv. Recommend the best approach and justify your choice based on scalability and adaptability.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For this cloud workload problem, a </a:t>
            </a:r>
            <a:r>
              <a:rPr b="1" lang="en" sz="1100"/>
              <a:t>Genetic Algorithm combined with local optimization</a:t>
            </a:r>
            <a:r>
              <a:rPr lang="en" sz="1100"/>
              <a:t> is a strong choice.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Reasons:</a:t>
            </a:r>
            <a:endParaRPr b="1" sz="13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Scalability:</a:t>
            </a:r>
            <a:r>
              <a:rPr lang="en" sz="1100"/>
              <a:t> It can search a very large solution space without examining every possible workload distribution.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Avoids local optima:</a:t>
            </a:r>
            <a:r>
              <a:rPr lang="en" sz="1100"/>
              <a:t> Population-based exploration allows multiple possible solutions to be investigated.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Adaptability:</a:t>
            </a:r>
            <a:r>
              <a:rPr lang="en" sz="1100"/>
              <a:t> New workload patterns can be incorporated by continuously updating the fitness function.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Multiple objectives:</a:t>
            </a:r>
            <a:r>
              <a:rPr lang="en" sz="1100"/>
              <a:t> Energy, latency, hardware wear, and load balancing can all be included in the fitness function.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Parallel processing:</a:t>
            </a:r>
            <a:r>
              <a:rPr lang="en" sz="1100"/>
              <a:t> Different candidate solutions can be evaluated simultaneously across cloud resources.</a:t>
            </a: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100"/>
              <a:t>Dynamic environment:</a:t>
            </a:r>
            <a:r>
              <a:rPr lang="en" sz="1100"/>
              <a:t> The algorithm can periodically re-optimize when server loads change.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Recommended approach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A practical system can use: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Genetic Algorithm → Generate good global solution → Hill Climbing/local search → Fine-tune solution → Deploy workload allocation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